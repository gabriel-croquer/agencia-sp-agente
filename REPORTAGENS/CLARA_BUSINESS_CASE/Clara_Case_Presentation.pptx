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1959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2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2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ssets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"/>
            <a:ext cx="2192357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23317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FDCFB"/>
                </a:solidFill>
                <a:latin typeface="Calibri"/>
              </a:rPr>
              <a:t>DATA STORYTELLING &amp; BRAND INSIGHTS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8892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FFFFFF"/>
                </a:solidFill>
                <a:latin typeface="Georgia"/>
              </a:rPr>
              <a:t>Back at the Desk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E3EBFA"/>
                </a:solidFill>
                <a:latin typeface="Georgia"/>
              </a:rPr>
              <a:t>The process behind the business case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709160"/>
            <a:ext cx="210312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9834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FDCFB"/>
                </a:solidFill>
                <a:latin typeface="Calibri"/>
              </a:rPr>
              <a:t>Gabriel Croquer  · 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0152A"/>
                </a:solidFill>
                <a:latin typeface="Georgia"/>
              </a:rPr>
              <a:t>Initial challenges: scope and creativity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13232" y="1170432"/>
            <a:ext cx="777240" cy="50292"/>
          </a:xfrm>
          <a:prstGeom prst="rect">
            <a:avLst/>
          </a:prstGeom>
          <a:solidFill>
            <a:srgbClr val="1959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5760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959D2"/>
                </a:solidFill>
                <a:latin typeface="Georgia"/>
              </a:rPr>
              <a:t>Narrow the scope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0152A"/>
                </a:solidFill>
                <a:latin typeface="Calibri"/>
              </a:rPr>
              <a:t>The report can't be too broad. With a base as rich as Clara's, too many strong themes compete for a single study.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108960"/>
            <a:ext cx="5760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959D2"/>
                </a:solidFill>
                <a:latin typeface="Georgia"/>
              </a:rPr>
              <a:t>Avoid repeating past reports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0152A"/>
                </a:solidFill>
                <a:latin typeface="Calibri"/>
              </a:rPr>
              <a:t>To show creativity, the study had to open a new subject, not re-run a theme Clara already published.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417320"/>
            <a:ext cx="4663440" cy="3977639"/>
          </a:xfrm>
          <a:prstGeom prst="roundRect">
            <a:avLst>
              <a:gd name="adj" fmla="val 4000"/>
            </a:avLst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78040" y="1673352"/>
            <a:ext cx="4023359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1959D2"/>
                </a:solidFill>
                <a:latin typeface="Calibri"/>
              </a:rPr>
              <a:t>Clara's published reports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A6172"/>
                </a:solidFill>
                <a:latin typeface="Calibri"/>
              </a:rPr>
              <a:t>AI theme  </a:t>
            </a:r>
            <a:r>
              <a:rPr sz="1100" b="1">
                <a:solidFill>
                  <a:srgbClr val="C97A12"/>
                </a:solidFill>
                <a:latin typeface="Calibri"/>
              </a:rPr>
              <a:t>already done four times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>
                <a:solidFill>
                  <a:srgbClr val="10152A"/>
                </a:solidFill>
                <a:latin typeface="Calibri"/>
              </a:rPr>
              <a:t>  Clara AI Report  ·  Quando a IA entra no Caixa  ·  AI Monitor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A6172"/>
                </a:solidFill>
                <a:latin typeface="Calibri"/>
              </a:rPr>
              <a:t>Strong themes still open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959D2"/>
                </a:solidFill>
                <a:latin typeface="Calibri"/>
              </a:rPr>
              <a:t>•  </a:t>
            </a:r>
            <a:r>
              <a:rPr sz="1150" b="0">
                <a:solidFill>
                  <a:srgbClr val="10152A"/>
                </a:solidFill>
                <a:latin typeface="Calibri"/>
              </a:rPr>
              <a:t>O Custo Invisível do Pré-pago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959D2"/>
                </a:solidFill>
                <a:latin typeface="Calibri"/>
              </a:rPr>
              <a:t>•  </a:t>
            </a:r>
            <a:r>
              <a:rPr sz="1150" b="0">
                <a:solidFill>
                  <a:srgbClr val="10152A"/>
                </a:solidFill>
                <a:latin typeface="Calibri"/>
              </a:rPr>
              <a:t>El tanque que se vacía dos veces  (fleet fuel, MX)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959D2"/>
                </a:solidFill>
                <a:latin typeface="Calibri"/>
              </a:rPr>
              <a:t>•  </a:t>
            </a:r>
            <a:r>
              <a:rPr sz="1150" b="0">
                <a:solidFill>
                  <a:srgbClr val="10152A"/>
                </a:solidFill>
                <a:latin typeface="Calibri"/>
              </a:rPr>
              <a:t>El punto ciego de los viajes corporativos  (travel, MX)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959D2"/>
                </a:solidFill>
                <a:latin typeface="Calibri"/>
              </a:rPr>
              <a:t>•  </a:t>
            </a:r>
            <a:r>
              <a:rPr sz="1150" b="0">
                <a:solidFill>
                  <a:srgbClr val="10152A"/>
                </a:solidFill>
                <a:latin typeface="Calibri"/>
              </a:rPr>
              <a:t>Clara Radar de marcas  (2023, 1.6M transactions)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78040" y="4663440"/>
            <a:ext cx="402335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959D2"/>
                </a:solidFill>
                <a:latin typeface="Calibri"/>
              </a:rPr>
              <a:t>Great themes that deserve a rebranded re-edition: more proprietary data, launched in Brazil.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5566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959D2"/>
                </a:solidFill>
                <a:latin typeface="Georgia"/>
              </a:rPr>
              <a:t>CLARA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6172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0152A"/>
                </a:solidFill>
                <a:latin typeface="Georgia"/>
              </a:rPr>
              <a:t>On-site vs remote work: the ongoing debate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713232" y="1170432"/>
            <a:ext cx="777240" cy="50292"/>
          </a:xfrm>
          <a:prstGeom prst="rect">
            <a:avLst/>
          </a:prstGeom>
          <a:solidFill>
            <a:srgbClr val="1959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99032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172"/>
                </a:solidFill>
                <a:latin typeface="Calibri"/>
              </a:rPr>
              <a:t>Chosen over spend policy, which folds into the study as H5 (Ramp already owns the generic policy angle).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0152A"/>
                </a:solidFill>
                <a:latin typeface="Georgia"/>
              </a:rPr>
              <a:t>Criteria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24912"/>
            <a:ext cx="29260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E9E5B"/>
                </a:solidFill>
                <a:latin typeface="Calibr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43200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52A"/>
                </a:solidFill>
                <a:latin typeface="Calibri"/>
              </a:rPr>
              <a:t>Generates press coverage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79"/>
            <a:ext cx="29260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E9E5B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01568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52A"/>
                </a:solidFill>
                <a:latin typeface="Calibri"/>
              </a:rPr>
              <a:t>Sparks conversations on social media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41648"/>
            <a:ext cx="29260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E9E5B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059935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52A"/>
                </a:solidFill>
                <a:latin typeface="Calibri"/>
              </a:rPr>
              <a:t>Positions Clara as the leading authority on corporate spending in Latin America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5566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959D2"/>
                </a:solidFill>
                <a:latin typeface="Georgia"/>
              </a:rPr>
              <a:t>CLARA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6172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0152A"/>
                </a:solidFill>
                <a:latin typeface="Georgia"/>
              </a:rPr>
              <a:t>What perspective?</a:t>
            </a:r>
          </a:p>
        </p:txBody>
      </p:sp>
      <p:sp>
        <p:nvSpPr>
          <p:cNvPr id="3" name="Rectangle 2"/>
          <p:cNvSpPr/>
          <p:nvPr/>
        </p:nvSpPr>
        <p:spPr>
          <a:xfrm>
            <a:off x="713232" y="1170432"/>
            <a:ext cx="777240" cy="50292"/>
          </a:xfrm>
          <a:prstGeom prst="rect">
            <a:avLst/>
          </a:prstGeom>
          <a:solidFill>
            <a:srgbClr val="1959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29260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D64545"/>
                </a:solidFill>
                <a:latin typeface="Calibri"/>
              </a:rPr>
              <a:t>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417320"/>
            <a:ext cx="7589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0152A"/>
                </a:solidFill>
                <a:latin typeface="Calibri"/>
              </a:rPr>
              <a:t>First angle. </a:t>
            </a:r>
            <a:r>
              <a:rPr sz="1500" b="0">
                <a:solidFill>
                  <a:srgbClr val="10152A"/>
                </a:solidFill>
                <a:latin typeface="Calibri"/>
              </a:rPr>
              <a:t>Use Clara's data to measure on-site work activity and attendance.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172"/>
                </a:solidFill>
                <a:latin typeface="Calibri"/>
              </a:rPr>
              <a:t>Flawed, risky, complicated: Clara has no headcount, and the VR blind spot breaks the presence proxy.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15400" y="1435608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50800" rIns="508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DISCARDED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80360"/>
            <a:ext cx="29260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E9E5B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834640"/>
            <a:ext cx="9692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0152A"/>
                </a:solidFill>
                <a:latin typeface="Calibri"/>
              </a:rPr>
              <a:t>Pivoted back to basics. </a:t>
            </a:r>
            <a:r>
              <a:rPr sz="1500" b="0">
                <a:solidFill>
                  <a:srgbClr val="10152A"/>
                </a:solidFill>
                <a:latin typeface="Calibri"/>
              </a:rPr>
              <a:t>Use Clara's data to measure how much companies spend on on-site work.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023360"/>
            <a:ext cx="10835640" cy="1600200"/>
          </a:xfrm>
          <a:prstGeom prst="roundRect">
            <a:avLst>
              <a:gd name="adj" fmla="val 5000"/>
            </a:avLst>
          </a:prstGeom>
          <a:solidFill>
            <a:srgbClr val="F4F6FC"/>
          </a:solidFill>
          <a:ln w="19050">
            <a:solidFill>
              <a:srgbClr val="195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279392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1959D2"/>
                </a:solidFill>
                <a:latin typeface="Georgia"/>
              </a:rPr>
              <a:t>Clara Workplace Index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0152A"/>
                </a:solidFill>
                <a:latin typeface="Calibri"/>
              </a:rPr>
              <a:t>Recurring</a:t>
            </a:r>
            <a:r>
              <a:rPr sz="1400" b="0">
                <a:solidFill>
                  <a:srgbClr val="5A6172"/>
                </a:solidFill>
                <a:latin typeface="Calibri"/>
              </a:rPr>
              <a:t>      Recurrence builds authority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45566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959D2"/>
                </a:solidFill>
                <a:latin typeface="Georgia"/>
              </a:rPr>
              <a:t>CLARA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6172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0152A"/>
                </a:solidFill>
                <a:latin typeface="Georgia"/>
              </a:rPr>
              <a:t>The AI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713232" y="1170432"/>
            <a:ext cx="777240" cy="50292"/>
          </a:xfrm>
          <a:prstGeom prst="rect">
            <a:avLst/>
          </a:prstGeom>
          <a:solidFill>
            <a:srgbClr val="1959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99032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52A"/>
                </a:solidFill>
                <a:latin typeface="Georgia"/>
              </a:rPr>
              <a:t>AI agent teams swarmed to deep research.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3429000" cy="1051560"/>
          </a:xfrm>
          <a:prstGeom prst="roundRect">
            <a:avLst>
              <a:gd name="adj" fmla="val 8000"/>
            </a:avLst>
          </a:prstGeom>
          <a:solidFill>
            <a:srgbClr val="1959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93976"/>
            <a:ext cx="29718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Georgia"/>
              </a:rPr>
              <a:t>10+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CFDCFB"/>
                </a:solidFill>
                <a:latin typeface="Calibri"/>
              </a:rPr>
              <a:t>agents in parallel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965960"/>
            <a:ext cx="3429000" cy="1051560"/>
          </a:xfrm>
          <a:prstGeom prst="roundRect">
            <a:avLst>
              <a:gd name="adj" fmla="val 8000"/>
            </a:avLst>
          </a:prstGeom>
          <a:solidFill>
            <a:srgbClr val="1959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9432" y="2093976"/>
            <a:ext cx="29718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Georgia"/>
              </a:rPr>
              <a:t>250+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CFDCFB"/>
                </a:solidFill>
                <a:latin typeface="Calibri"/>
              </a:rPr>
              <a:t>searches &amp; page reads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55864" y="1965960"/>
            <a:ext cx="3429000" cy="1051560"/>
          </a:xfrm>
          <a:prstGeom prst="roundRect">
            <a:avLst>
              <a:gd name="adj" fmla="val 8000"/>
            </a:avLst>
          </a:prstGeom>
          <a:solidFill>
            <a:srgbClr val="1959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4464" y="2093976"/>
            <a:ext cx="29718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Georgia"/>
              </a:rPr>
              <a:t>2,849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CFDCFB"/>
                </a:solidFill>
                <a:latin typeface="Calibri"/>
              </a:rPr>
              <a:t>URLs mapped from Clara's sitemap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355848"/>
            <a:ext cx="29260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959D2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337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0152A"/>
                </a:solidFill>
                <a:latin typeface="Calibri"/>
              </a:rPr>
              <a:t>Locate old reports among archived pages (many were taken down; the sitemap revealed what was still live).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922775"/>
            <a:ext cx="29260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959D2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904487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0152A"/>
                </a:solidFill>
                <a:latin typeface="Calibri"/>
              </a:rPr>
              <a:t>Benchmark reports on on-site vs remote work.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608576"/>
            <a:ext cx="10835640" cy="1051560"/>
          </a:xfrm>
          <a:prstGeom prst="roundRect">
            <a:avLst>
              <a:gd name="adj" fmla="val 6000"/>
            </a:avLst>
          </a:prstGeom>
          <a:solidFill>
            <a:srgbClr val="FBF3E4"/>
          </a:solidFill>
          <a:ln w="15875">
            <a:solidFill>
              <a:srgbClr val="C97A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773168"/>
            <a:ext cx="101498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0152A"/>
                </a:solidFill>
                <a:latin typeface="Calibri"/>
              </a:rPr>
              <a:t>Although AI can do it faster, it can't do it smarter. </a:t>
            </a:r>
            <a:r>
              <a:rPr sz="1250" b="0">
                <a:solidFill>
                  <a:srgbClr val="10152A"/>
                </a:solidFill>
                <a:latin typeface="Calibri"/>
              </a:rPr>
              <a:t>It reads snippets of archived pages and reports them as if seen. Rule adopted: a number counts only when opened at its primary source. A snippet is a lead, not a source.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45566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959D2"/>
                </a:solidFill>
                <a:latin typeface="Georgia"/>
              </a:rPr>
              <a:t>CLARA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6172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0152A"/>
                </a:solidFill>
                <a:latin typeface="Georgia"/>
              </a:rPr>
              <a:t>Defining and sharpening the hypotheses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13232" y="1170432"/>
            <a:ext cx="777240" cy="50292"/>
          </a:xfrm>
          <a:prstGeom prst="rect">
            <a:avLst/>
          </a:prstGeom>
          <a:solidFill>
            <a:srgbClr val="1959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99032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172"/>
                </a:solidFill>
                <a:latin typeface="Calibri"/>
              </a:rPr>
              <a:t>Conservative by instinct: 4 of 5 provable on Clara's data alone. External sources reinforce, they don't prove.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11680"/>
            <a:ext cx="10835640" cy="749808"/>
          </a:xfrm>
          <a:prstGeom prst="roundRect">
            <a:avLst>
              <a:gd name="adj" fmla="val 12000"/>
            </a:avLst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2157984"/>
            <a:ext cx="685800" cy="457200"/>
          </a:xfrm>
          <a:prstGeom prst="roundRect">
            <a:avLst>
              <a:gd name="adj" fmla="val 20000"/>
            </a:avLst>
          </a:prstGeom>
          <a:solidFill>
            <a:srgbClr val="1959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Georgia"/>
              </a:rPr>
              <a:t>H1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2157984"/>
            <a:ext cx="6766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0152A"/>
                </a:solidFill>
                <a:latin typeface="Calibri"/>
              </a:rPr>
              <a:t>The office is going on-demand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69680" y="2212848"/>
            <a:ext cx="2468880" cy="347472"/>
          </a:xfrm>
          <a:prstGeom prst="roundRect">
            <a:avLst>
              <a:gd name="adj" fmla="val 50000"/>
            </a:avLst>
          </a:prstGeom>
          <a:solidFill>
            <a:srgbClr val="1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50800" rIns="508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PROVABLE ON INTERNAL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871216"/>
            <a:ext cx="10835640" cy="749808"/>
          </a:xfrm>
          <a:prstGeom prst="roundRect">
            <a:avLst>
              <a:gd name="adj" fmla="val 12000"/>
            </a:avLst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3017520"/>
            <a:ext cx="685800" cy="457200"/>
          </a:xfrm>
          <a:prstGeom prst="roundRect">
            <a:avLst>
              <a:gd name="adj" fmla="val 20000"/>
            </a:avLst>
          </a:prstGeom>
          <a:solidFill>
            <a:srgbClr val="1959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Georgia"/>
              </a:rPr>
              <a:t>H2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3017520"/>
            <a:ext cx="6766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0152A"/>
                </a:solidFill>
                <a:latin typeface="Calibri"/>
              </a:rPr>
              <a:t>What it costs to run an office now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69680" y="3072384"/>
            <a:ext cx="2468880" cy="347472"/>
          </a:xfrm>
          <a:prstGeom prst="roundRect">
            <a:avLst>
              <a:gd name="adj" fmla="val 50000"/>
            </a:avLst>
          </a:prstGeom>
          <a:solidFill>
            <a:srgbClr val="1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50800" rIns="508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PROVABLE ON INTERNAL 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730752"/>
            <a:ext cx="10835640" cy="749808"/>
          </a:xfrm>
          <a:prstGeom prst="roundRect">
            <a:avLst>
              <a:gd name="adj" fmla="val 12000"/>
            </a:avLst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68680" y="3877056"/>
            <a:ext cx="685800" cy="457200"/>
          </a:xfrm>
          <a:prstGeom prst="roundRect">
            <a:avLst>
              <a:gd name="adj" fmla="val 20000"/>
            </a:avLst>
          </a:prstGeom>
          <a:solidFill>
            <a:srgbClr val="1959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Georgia"/>
              </a:rPr>
              <a:t>H3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3877056"/>
            <a:ext cx="6766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0152A"/>
                </a:solidFill>
                <a:latin typeface="Calibri"/>
              </a:rPr>
              <a:t>The office runs three days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9680" y="3931920"/>
            <a:ext cx="2468880" cy="347472"/>
          </a:xfrm>
          <a:prstGeom prst="roundRect">
            <a:avLst>
              <a:gd name="adj" fmla="val 50000"/>
            </a:avLst>
          </a:prstGeom>
          <a:solidFill>
            <a:srgbClr val="1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50800" rIns="508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PROVABLE ON INTERNAL DATA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590288"/>
            <a:ext cx="10835640" cy="749808"/>
          </a:xfrm>
          <a:prstGeom prst="roundRect">
            <a:avLst>
              <a:gd name="adj" fmla="val 12000"/>
            </a:avLst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68680" y="4736592"/>
            <a:ext cx="685800" cy="457200"/>
          </a:xfrm>
          <a:prstGeom prst="roundRect">
            <a:avLst>
              <a:gd name="adj" fmla="val 20000"/>
            </a:avLst>
          </a:prstGeom>
          <a:solidFill>
            <a:srgbClr val="1959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Georgia"/>
              </a:rPr>
              <a:t>H4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4736592"/>
            <a:ext cx="6766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0152A"/>
                </a:solidFill>
                <a:latin typeface="Calibri"/>
              </a:rPr>
              <a:t>Companies pay for more office than they use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69680" y="4791455"/>
            <a:ext cx="2468880" cy="347472"/>
          </a:xfrm>
          <a:prstGeom prst="roundRect">
            <a:avLst>
              <a:gd name="adj" fmla="val 50000"/>
            </a:avLst>
          </a:prstGeom>
          <a:solidFill>
            <a:srgbClr val="C97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50800" rIns="508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NEEDS EXTERNAL SUPPORT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5449823"/>
            <a:ext cx="10835640" cy="749808"/>
          </a:xfrm>
          <a:prstGeom prst="roundRect">
            <a:avLst>
              <a:gd name="adj" fmla="val 12000"/>
            </a:avLst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68680" y="5596127"/>
            <a:ext cx="685800" cy="457200"/>
          </a:xfrm>
          <a:prstGeom prst="roundRect">
            <a:avLst>
              <a:gd name="adj" fmla="val 20000"/>
            </a:avLst>
          </a:prstGeom>
          <a:solidFill>
            <a:srgbClr val="1959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Georgia"/>
              </a:rPr>
              <a:t>H5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5596127"/>
            <a:ext cx="6766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0152A"/>
                </a:solidFill>
                <a:latin typeface="Calibri"/>
              </a:rPr>
              <a:t>A spend policy is the lever that works on office cost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69680" y="5650991"/>
            <a:ext cx="2468880" cy="347472"/>
          </a:xfrm>
          <a:prstGeom prst="roundRect">
            <a:avLst>
              <a:gd name="adj" fmla="val 50000"/>
            </a:avLst>
          </a:prstGeom>
          <a:solidFill>
            <a:srgbClr val="1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 lIns="50800" rIns="508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PROVABLE ON INTERNAL 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45566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959D2"/>
                </a:solidFill>
                <a:latin typeface="Georgia"/>
              </a:rPr>
              <a:t>CLARA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6172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0152A"/>
                </a:solidFill>
                <a:latin typeface="Georgia"/>
              </a:rPr>
              <a:t>Defining and sharpening the hypotheses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13232" y="1170432"/>
            <a:ext cx="777240" cy="50292"/>
          </a:xfrm>
          <a:prstGeom prst="rect">
            <a:avLst/>
          </a:prstGeom>
          <a:solidFill>
            <a:srgbClr val="1959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99032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172"/>
                </a:solidFill>
                <a:latin typeface="Calibri"/>
              </a:rPr>
              <a:t>Journalist's instinct: chase the controversy, but never expose a client, and hand CFOs something usable.</a:t>
            </a:r>
          </a:p>
        </p:txBody>
      </p:sp>
      <p:sp>
        <p:nvSpPr>
          <p:cNvPr id="5" name="Oval 4"/>
          <p:cNvSpPr/>
          <p:nvPr/>
        </p:nvSpPr>
        <p:spPr>
          <a:xfrm>
            <a:off x="2606040" y="1828800"/>
            <a:ext cx="3429000" cy="3429000"/>
          </a:xfrm>
          <a:prstGeom prst="ellipse">
            <a:avLst/>
          </a:prstGeom>
          <a:solidFill>
            <a:srgbClr val="E3EBFA"/>
          </a:solidFill>
          <a:ln w="28575">
            <a:solidFill>
              <a:srgbClr val="195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709160" y="1828800"/>
            <a:ext cx="3429000" cy="3429000"/>
          </a:xfrm>
          <a:prstGeom prst="ellipse">
            <a:avLst/>
          </a:prstGeom>
          <a:noFill/>
          <a:ln w="28575">
            <a:solidFill>
              <a:srgbClr val="1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97480" y="2788920"/>
            <a:ext cx="1828800" cy="1508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2A66"/>
                </a:solidFill>
                <a:latin typeface="Calibri"/>
              </a:rPr>
              <a:t>Serving, helping &amp; prospecting clients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2788920"/>
            <a:ext cx="1828800" cy="1508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E9E5B"/>
                </a:solidFill>
                <a:latin typeface="Calibri"/>
              </a:rPr>
              <a:t>Sparking conversation, public interest</a:t>
            </a:r>
          </a:p>
        </p:txBody>
      </p:sp>
      <p:sp>
        <p:nvSpPr>
          <p:cNvPr id="9" name="Oval 8"/>
          <p:cNvSpPr/>
          <p:nvPr/>
        </p:nvSpPr>
        <p:spPr>
          <a:xfrm>
            <a:off x="4663440" y="2377440"/>
            <a:ext cx="1417320" cy="2331720"/>
          </a:xfrm>
          <a:prstGeom prst="ellipse">
            <a:avLst/>
          </a:prstGeom>
          <a:solidFill>
            <a:srgbClr val="1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The 5 hypotheses live 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45566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959D2"/>
                </a:solidFill>
                <a:latin typeface="Georgia"/>
              </a:rPr>
              <a:t>CLARA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6172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0152A"/>
                </a:solidFill>
                <a:latin typeface="Georgia"/>
              </a:rPr>
              <a:t>Chosen headline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13232" y="1170432"/>
            <a:ext cx="777240" cy="50292"/>
          </a:xfrm>
          <a:prstGeom prst="rect">
            <a:avLst/>
          </a:prstGeom>
          <a:solidFill>
            <a:srgbClr val="1959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10835640" cy="1051560"/>
          </a:xfrm>
          <a:prstGeom prst="roundRect">
            <a:avLst>
              <a:gd name="adj" fmla="val 6000"/>
            </a:avLst>
          </a:prstGeom>
          <a:solidFill>
            <a:srgbClr val="1959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27048"/>
            <a:ext cx="101955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Georgia"/>
              </a:rPr>
              <a:t>“The five-day office is losing its lease: X% of LatAm companies' workplace spend is now flexible”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74320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959D2"/>
                </a:solidFill>
                <a:latin typeface="Calibri"/>
              </a:rPr>
              <a:t>Why this headline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82112"/>
            <a:ext cx="29260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E9E5B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0040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0152A"/>
                </a:solidFill>
                <a:latin typeface="Calibri"/>
              </a:rPr>
              <a:t>Provable on internal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94176"/>
            <a:ext cx="29260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E9E5B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712464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0152A"/>
                </a:solidFill>
                <a:latin typeface="Calibri"/>
              </a:rPr>
              <a:t>Sparks conversation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06240"/>
            <a:ext cx="29260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E9E5B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22452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0152A"/>
                </a:solidFill>
                <a:latin typeface="Calibri"/>
              </a:rPr>
              <a:t>Positions Clara as an authority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718304"/>
            <a:ext cx="29260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E9E5B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736592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0152A"/>
                </a:solidFill>
                <a:latin typeface="Calibri"/>
              </a:rPr>
              <a:t>Converges with H4 (companies pay for more office than they use)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74320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959D2"/>
                </a:solidFill>
                <a:latin typeface="Calibri"/>
              </a:rPr>
              <a:t>Adapting to each channel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3200400"/>
            <a:ext cx="539496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10152A"/>
                </a:solidFill>
                <a:latin typeface="Calibri"/>
              </a:rPr>
              <a:t>Tier-1 media story. </a:t>
            </a:r>
            <a:r>
              <a:rPr sz="1250" b="0">
                <a:solidFill>
                  <a:srgbClr val="10152A"/>
                </a:solidFill>
                <a:latin typeface="Calibri"/>
              </a:rPr>
              <a:t>Reporters' WhatsApp is flooded with pitches; lead with a short lede and research what they actually cover.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10152A"/>
                </a:solidFill>
                <a:latin typeface="Calibri"/>
              </a:rPr>
              <a:t>LinkedIn. </a:t>
            </a:r>
            <a:r>
              <a:rPr sz="1250" b="0">
                <a:solidFill>
                  <a:srgbClr val="10152A"/>
                </a:solidFill>
                <a:latin typeface="Calibri"/>
              </a:rPr>
              <a:t>The visualization does the communicating.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0152A"/>
                </a:solidFill>
                <a:latin typeface="Calibri"/>
              </a:rPr>
              <a:t>Clara's owned channels. </a:t>
            </a:r>
            <a:r>
              <a:rPr sz="1250" b="0">
                <a:solidFill>
                  <a:srgbClr val="10152A"/>
                </a:solidFill>
                <a:latin typeface="Calibri"/>
              </a:rPr>
              <a:t>Readers want detail and numbers; fewer limits, they arrive with time to read.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45566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959D2"/>
                </a:solidFill>
                <a:latin typeface="Georgia"/>
              </a:rPr>
              <a:t>CLARA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6172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0152A"/>
                </a:solidFill>
                <a:latin typeface="Georgia"/>
              </a:rPr>
              <a:t>Methods and limits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13232" y="1170432"/>
            <a:ext cx="777240" cy="50292"/>
          </a:xfrm>
          <a:prstGeom prst="rect">
            <a:avLst/>
          </a:prstGeom>
          <a:solidFill>
            <a:srgbClr val="1959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13232" y="1600200"/>
            <a:ext cx="128016" cy="566928"/>
          </a:xfrm>
          <a:prstGeom prst="rect">
            <a:avLst/>
          </a:prstGeom>
          <a:solidFill>
            <a:srgbClr val="1959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959D2"/>
                </a:solidFill>
                <a:latin typeface="Calibri"/>
              </a:rPr>
              <a:t>Proxy, not attendance. </a:t>
            </a:r>
            <a:r>
              <a:rPr sz="1400" b="0">
                <a:solidFill>
                  <a:srgbClr val="10152A"/>
                </a:solidFill>
                <a:latin typeface="Calibri"/>
              </a:rPr>
              <a:t>Spending is a trace of office activity, not a count of people.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2532887"/>
            <a:ext cx="128016" cy="566928"/>
          </a:xfrm>
          <a:prstGeom prst="rect">
            <a:avLst/>
          </a:prstGeom>
          <a:solidFill>
            <a:srgbClr val="1959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487168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959D2"/>
                </a:solidFill>
                <a:latin typeface="Calibri"/>
              </a:rPr>
              <a:t>Fixed cohort. </a:t>
            </a:r>
            <a:r>
              <a:rPr sz="1400" b="0">
                <a:solidFill>
                  <a:srgbClr val="10152A"/>
                </a:solidFill>
                <a:latin typeface="Calibri"/>
              </a:rPr>
              <a:t>Every time series runs on a fixed cohort of companies.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3465575"/>
            <a:ext cx="128016" cy="566928"/>
          </a:xfrm>
          <a:prstGeom prst="rect">
            <a:avLst/>
          </a:prstGeom>
          <a:solidFill>
            <a:srgbClr val="1959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419856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959D2"/>
                </a:solidFill>
                <a:latin typeface="Calibri"/>
              </a:rPr>
              <a:t>External data labeled. </a:t>
            </a:r>
            <a:r>
              <a:rPr sz="1400" b="0">
                <a:solidFill>
                  <a:srgbClr val="10152A"/>
                </a:solidFill>
                <a:latin typeface="Calibri"/>
              </a:rPr>
              <a:t>Vacancy, rent and utilization are always labeled by source.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4398264"/>
            <a:ext cx="128016" cy="566928"/>
          </a:xfrm>
          <a:prstGeom prst="rect">
            <a:avLst/>
          </a:prstGeom>
          <a:solidFill>
            <a:srgbClr val="1959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352544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959D2"/>
                </a:solidFill>
                <a:latin typeface="Calibri"/>
              </a:rPr>
              <a:t>Privacy. </a:t>
            </a:r>
            <a:r>
              <a:rPr sz="1400" b="0">
                <a:solidFill>
                  <a:srgbClr val="10152A"/>
                </a:solidFill>
                <a:latin typeface="Calibri"/>
              </a:rPr>
              <a:t>Minimum cell size, no cut below 30 companies. We never expose a client.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5566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959D2"/>
                </a:solidFill>
                <a:latin typeface="Georgia"/>
              </a:rPr>
              <a:t>CLARA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6172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